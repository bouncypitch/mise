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8666B"/>
                </a:solidFill>
                <a:latin typeface="Arial"/>
              </a:rPr>
              <a:t>AGI HOUSE HACKATHON — LONG-HORIZON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8666B"/>
                </a:solidFill>
                <a:latin typeface="Arial"/>
              </a:rPr>
              <a:t>01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0000"/>
            <a:ext cx="11091672" cy="1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0" b="1" i="0">
                <a:solidFill>
                  <a:srgbClr val="1A1A1A"/>
                </a:solidFill>
                <a:latin typeface="Arial"/>
              </a:rPr>
              <a:t>MISE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0000"/>
            <a:ext cx="11091672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F00BF"/>
                </a:solidFill>
                <a:latin typeface="Arial"/>
              </a:rPr>
              <a:t>A LONG-HORIZON PHYSICAL AGENT</a:t>
            </a:r>
          </a:p>
        </p:txBody>
      </p:sp>
      <p:pic>
        <p:nvPicPr>
          <p:cNvPr id="7" name="Picture 6" descr="curry_her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2809" y="2850000"/>
            <a:ext cx="5683333" cy="3100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52809" y="2850000"/>
            <a:ext cx="5683333" cy="3100000"/>
          </a:xfrm>
          <a:prstGeom prst="rect">
            <a:avLst/>
          </a:prstGeom>
          <a:noFill/>
          <a:ln w="19050">
            <a:solidFill>
              <a:srgbClr val="FF00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280000"/>
            <a:ext cx="11091672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 i="0">
                <a:solidFill>
                  <a:srgbClr val="1A1A1A"/>
                </a:solidFill>
                <a:latin typeface="Arial"/>
              </a:rPr>
              <a:t>Tell it what to cook. It plans, executes, and recovers when things go wrong.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8666B"/>
                </a:solidFill>
                <a:latin typeface="Arial"/>
              </a:rPr>
              <a:t>THE BIGGER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8666B"/>
                </a:solidFill>
                <a:latin typeface="Arial"/>
              </a:rPr>
              <a:t>02 /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77240"/>
            <a:ext cx="11091672" cy="12700"/>
          </a:xfrm>
          <a:prstGeom prst="rect">
            <a:avLst/>
          </a:prstGeom>
          <a:solidFill>
            <a:srgbClr val="E8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1091672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1A1A1A"/>
                </a:solidFill>
                <a:latin typeface="Arial"/>
              </a:rPr>
              <a:t>From voice to plate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5840"/>
            <a:ext cx="560000" cy="38000"/>
          </a:xfrm>
          <a:prstGeom prst="roundRect">
            <a:avLst/>
          </a:prstGeom>
          <a:solidFill>
            <a:srgbClr val="FF00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500000"/>
            <a:ext cx="1665278" cy="800000"/>
          </a:xfrm>
          <a:prstGeom prst="roundRect">
            <a:avLst/>
          </a:prstGeom>
          <a:noFill/>
          <a:ln w="12700">
            <a:solidFill>
              <a:srgbClr val="E8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68666B"/>
                </a:solidFill>
                <a:latin typeface="Arial"/>
              </a:rPr>
              <a:t>VOICE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13918" y="2500000"/>
            <a:ext cx="220000" cy="8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E8E6EA"/>
                </a:solidFill>
                <a:latin typeface="Arial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33918" y="2500000"/>
            <a:ext cx="1665278" cy="800000"/>
          </a:xfrm>
          <a:prstGeom prst="roundRect">
            <a:avLst/>
          </a:prstGeom>
          <a:noFill/>
          <a:ln w="12700">
            <a:solidFill>
              <a:srgbClr val="E8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68666B"/>
                </a:solidFill>
                <a:latin typeface="Arial"/>
              </a:rPr>
              <a:t>DECOMPOSE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99197" y="2500000"/>
            <a:ext cx="220000" cy="8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E8E6EA"/>
                </a:solidFill>
                <a:latin typeface="Arial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9197" y="2500000"/>
            <a:ext cx="1665278" cy="800000"/>
          </a:xfrm>
          <a:prstGeom prst="roundRect">
            <a:avLst/>
          </a:prstGeom>
          <a:noFill/>
          <a:ln w="12700">
            <a:solidFill>
              <a:srgbClr val="E8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68666B"/>
                </a:solidFill>
                <a:latin typeface="Arial"/>
              </a:rPr>
              <a:t>RETRIEVE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4476" y="2500000"/>
            <a:ext cx="220000" cy="8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E8E6EA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4476" y="2500000"/>
            <a:ext cx="1665278" cy="800000"/>
          </a:xfrm>
          <a:prstGeom prst="roundRect">
            <a:avLst/>
          </a:prstGeom>
          <a:solidFill>
            <a:srgbClr val="FF00BF"/>
          </a:solidFill>
          <a:ln w="28000">
            <a:solidFill>
              <a:srgbClr val="FF00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KIT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9754" y="2500000"/>
            <a:ext cx="220000" cy="8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E8E6EA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9754" y="2500000"/>
            <a:ext cx="1665278" cy="800000"/>
          </a:xfrm>
          <a:prstGeom prst="roundRect">
            <a:avLst/>
          </a:prstGeom>
          <a:noFill/>
          <a:ln w="12700">
            <a:solidFill>
              <a:srgbClr val="E8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68666B"/>
                </a:solidFill>
                <a:latin typeface="Arial"/>
              </a:rPr>
              <a:t>PREP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55033" y="2500000"/>
            <a:ext cx="220000" cy="8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E8E6EA"/>
                </a:solidFill>
                <a:latin typeface="Arial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75033" y="2500000"/>
            <a:ext cx="1665278" cy="800000"/>
          </a:xfrm>
          <a:prstGeom prst="roundRect">
            <a:avLst/>
          </a:prstGeom>
          <a:noFill/>
          <a:ln w="12700">
            <a:solidFill>
              <a:srgbClr val="E8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68666B"/>
                </a:solidFill>
                <a:latin typeface="Arial"/>
              </a:rPr>
              <a:t>COOK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4476" y="3400000"/>
            <a:ext cx="1665278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00BF"/>
                </a:solidFill>
                <a:latin typeface="Arial"/>
              </a:rPr>
              <a:t>THIS HACKATHON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150000"/>
            <a:ext cx="11091672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68666B"/>
                </a:solidFill>
                <a:latin typeface="Arial"/>
              </a:rPr>
              <a:t>A voice request is decomposed into an ingredient list, a robot retrieves each raw ingredient, kits them into a tray, then cuts and preps them so they're ready to cook.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280000"/>
            <a:ext cx="11091672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68666B"/>
                </a:solidFill>
                <a:latin typeface="Arial"/>
              </a:rPr>
              <a:t>Kitting is a repeatable task across industries — meal kits, hospitals, warehouses. We built that one piece, well.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8666B"/>
                </a:solidFill>
                <a:latin typeface="Arial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8666B"/>
                </a:solidFill>
                <a:latin typeface="Arial"/>
              </a:rPr>
              <a:t>03 /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77240"/>
            <a:ext cx="11091672" cy="12700"/>
          </a:xfrm>
          <a:prstGeom prst="rect">
            <a:avLst/>
          </a:prstGeom>
          <a:solidFill>
            <a:srgbClr val="E8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1091672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1A1A1A"/>
                </a:solidFill>
                <a:latin typeface="Arial"/>
              </a:rPr>
              <a:t>Agents fail silently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5840"/>
            <a:ext cx="560000" cy="38000"/>
          </a:xfrm>
          <a:prstGeom prst="roundRect">
            <a:avLst/>
          </a:prstGeom>
          <a:solidFill>
            <a:srgbClr val="FF00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obot_ingredient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3642" y="2050000"/>
            <a:ext cx="7461666" cy="4070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363642" y="2050000"/>
            <a:ext cx="7461666" cy="4070000"/>
          </a:xfrm>
          <a:prstGeom prst="rect">
            <a:avLst/>
          </a:prstGeom>
          <a:noFill/>
          <a:ln w="19050">
            <a:solidFill>
              <a:srgbClr val="FF00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280000"/>
            <a:ext cx="11091672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 i="1">
                <a:solidFill>
                  <a:srgbClr val="68666B"/>
                </a:solidFill>
                <a:latin typeface="Arial"/>
              </a:rPr>
              <a:t>“An agent that succeeds 99% of the time still fails a 100-step task more often than not.”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8666B"/>
                </a:solidFill>
                <a:latin typeface="Arial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8666B"/>
                </a:solidFill>
                <a:latin typeface="Arial"/>
              </a:rPr>
              <a:t>04 /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77240"/>
            <a:ext cx="11091672" cy="12700"/>
          </a:xfrm>
          <a:prstGeom prst="rect">
            <a:avLst/>
          </a:prstGeom>
          <a:solidFill>
            <a:srgbClr val="E8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1091672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1A1A1A"/>
                </a:solidFill>
                <a:latin typeface="Arial"/>
              </a:rPr>
              <a:t>How it thinks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5840"/>
            <a:ext cx="560000" cy="38000"/>
          </a:xfrm>
          <a:prstGeom prst="roundRect">
            <a:avLst/>
          </a:prstGeom>
          <a:solidFill>
            <a:srgbClr val="FF00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450000"/>
            <a:ext cx="2010334" cy="680000"/>
          </a:xfrm>
          <a:prstGeom prst="roundRect">
            <a:avLst/>
          </a:prstGeom>
          <a:noFill/>
          <a:ln w="19050">
            <a:solidFill>
              <a:srgbClr val="FF00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1A1A"/>
                </a:solidFill>
                <a:latin typeface="Arial"/>
              </a:rPr>
              <a:t>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58974" y="2450000"/>
            <a:ext cx="260000" cy="6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00BF"/>
                </a:solidFill>
                <a:latin typeface="Arial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18974" y="2450000"/>
            <a:ext cx="2010334" cy="680000"/>
          </a:xfrm>
          <a:prstGeom prst="roundRect">
            <a:avLst/>
          </a:prstGeom>
          <a:noFill/>
          <a:ln w="19050">
            <a:solidFill>
              <a:srgbClr val="FF00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1A1A"/>
                </a:solidFill>
                <a:latin typeface="Arial"/>
              </a:rPr>
              <a:t>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9308" y="2450000"/>
            <a:ext cx="260000" cy="6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00BF"/>
                </a:solidFill>
                <a:latin typeface="Arial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89308" y="2450000"/>
            <a:ext cx="2010334" cy="680000"/>
          </a:xfrm>
          <a:prstGeom prst="roundRect">
            <a:avLst/>
          </a:prstGeom>
          <a:noFill/>
          <a:ln w="19050">
            <a:solidFill>
              <a:srgbClr val="FF00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1A1A"/>
                </a:solidFill>
                <a:latin typeface="Arial"/>
              </a:rPr>
              <a:t>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99643" y="2450000"/>
            <a:ext cx="260000" cy="6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00BF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59643" y="2450000"/>
            <a:ext cx="2010334" cy="680000"/>
          </a:xfrm>
          <a:prstGeom prst="roundRect">
            <a:avLst/>
          </a:prstGeom>
          <a:noFill/>
          <a:ln w="19050">
            <a:solidFill>
              <a:srgbClr val="FF00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1A1A"/>
                </a:solidFill>
                <a:latin typeface="Arial"/>
              </a:rPr>
              <a:t>OBSERVE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69977" y="2450000"/>
            <a:ext cx="260000" cy="6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00BF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29977" y="2450000"/>
            <a:ext cx="2010334" cy="680000"/>
          </a:xfrm>
          <a:prstGeom prst="roundRect">
            <a:avLst/>
          </a:prstGeom>
          <a:noFill/>
          <a:ln w="19050">
            <a:solidFill>
              <a:srgbClr val="FF00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1A1A"/>
                </a:solidFill>
                <a:latin typeface="Arial"/>
              </a:rPr>
              <a:t>VERIFY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300000"/>
            <a:ext cx="900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FF00BF"/>
                </a:solidFill>
                <a:latin typeface="Arial"/>
              </a:rPr>
              <a:t>on fail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50000"/>
            <a:ext cx="3523890" cy="680000"/>
          </a:xfrm>
          <a:prstGeom prst="roundRect">
            <a:avLst/>
          </a:prstGeom>
          <a:noFill/>
          <a:ln w="19050">
            <a:solidFill>
              <a:srgbClr val="FF00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00BF"/>
                </a:solidFill>
                <a:latin typeface="Arial"/>
              </a:rPr>
              <a:t>DIAGNOSE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72530" y="3750000"/>
            <a:ext cx="260000" cy="6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00BF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32530" y="3750000"/>
            <a:ext cx="3523890" cy="680000"/>
          </a:xfrm>
          <a:prstGeom prst="roundRect">
            <a:avLst/>
          </a:prstGeom>
          <a:noFill/>
          <a:ln w="19050">
            <a:solidFill>
              <a:srgbClr val="FF00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00BF"/>
                </a:solidFill>
                <a:latin typeface="Arial"/>
              </a:rPr>
              <a:t>REPLAN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56421" y="3750000"/>
            <a:ext cx="260000" cy="6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00BF"/>
                </a:solidFill>
                <a:latin typeface="Arial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6421" y="3750000"/>
            <a:ext cx="3523890" cy="680000"/>
          </a:xfrm>
          <a:prstGeom prst="roundRect">
            <a:avLst/>
          </a:prstGeom>
          <a:noFill/>
          <a:ln w="19050">
            <a:solidFill>
              <a:srgbClr val="FF00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00BF"/>
                </a:solidFill>
                <a:latin typeface="Arial"/>
              </a:rPr>
              <a:t>ACT AGAIN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750000"/>
            <a:ext cx="11091672" cy="1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68666B"/>
                </a:solidFill>
                <a:latin typeface="Arial"/>
              </a:rPr>
              <a:t>Hard boundary: the LLM only interprets goals, diagnoses failures, and replans — named parameters, never joint angles. IK, motion, grasp, and verification are deterministic Python, the same code path every run.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280000"/>
            <a:ext cx="11091672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68666B"/>
                </a:solidFill>
                <a:latin typeface="Arial"/>
              </a:rPr>
              <a:t>The LLM never touches a trajectory. Physics is run by code, not a model.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8666B"/>
                </a:solidFill>
                <a:latin typeface="Arial"/>
              </a:rPr>
              <a:t>MID-RUN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8666B"/>
                </a:solidFill>
                <a:latin typeface="Arial"/>
              </a:rPr>
              <a:t>05 /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77240"/>
            <a:ext cx="11091672" cy="12700"/>
          </a:xfrm>
          <a:prstGeom prst="rect">
            <a:avLst/>
          </a:prstGeom>
          <a:solidFill>
            <a:srgbClr val="E8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1091672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1A1A1A"/>
                </a:solidFill>
                <a:latin typeface="Arial"/>
              </a:rPr>
              <a:t>How does it recognize failure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5840"/>
            <a:ext cx="560000" cy="38000"/>
          </a:xfrm>
          <a:prstGeom prst="roundRect">
            <a:avLst/>
          </a:prstGeom>
          <a:solidFill>
            <a:srgbClr val="FF00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500000"/>
            <a:ext cx="3523890" cy="650000"/>
          </a:xfrm>
          <a:prstGeom prst="roundRect">
            <a:avLst/>
          </a:prstGeom>
          <a:noFill/>
          <a:ln w="19050">
            <a:solidFill>
              <a:srgbClr val="FF00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A1A1A"/>
                </a:solidFill>
                <a:latin typeface="Arial"/>
              </a:rPr>
              <a:t>GRIPPER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72530" y="2500000"/>
            <a:ext cx="260000" cy="6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00BF"/>
                </a:solidFill>
                <a:latin typeface="Arial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2530" y="2500000"/>
            <a:ext cx="3523890" cy="650000"/>
          </a:xfrm>
          <a:prstGeom prst="roundRect">
            <a:avLst/>
          </a:prstGeom>
          <a:noFill/>
          <a:ln w="19050">
            <a:solidFill>
              <a:srgbClr val="FF00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A1A1A"/>
                </a:solidFill>
                <a:latin typeface="Arial"/>
              </a:rPr>
              <a:t>LIFT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56421" y="2500000"/>
            <a:ext cx="260000" cy="6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00BF"/>
                </a:solidFill>
                <a:latin typeface="Arial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6421" y="2500000"/>
            <a:ext cx="3523890" cy="650000"/>
          </a:xfrm>
          <a:prstGeom prst="roundRect">
            <a:avLst/>
          </a:prstGeom>
          <a:noFill/>
          <a:ln w="19050">
            <a:solidFill>
              <a:srgbClr val="FF00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A1A1A"/>
                </a:solidFill>
                <a:latin typeface="Arial"/>
              </a:rPr>
              <a:t>VERIFIED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350000"/>
            <a:ext cx="11091672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FF00BF"/>
                </a:solidFill>
                <a:latin typeface="Arial"/>
              </a:rPr>
              <a:t>dist(gripper, object) &lt; 0.06m   AND   object height &gt; table + 0.05m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50000"/>
            <a:ext cx="11091672" cy="6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68666B"/>
                </a:solidFill>
                <a:latin typeface="Arial"/>
              </a:rPr>
              <a:t>verifier.py is deterministic, zero LLM involvement. It independently re-derives success from observed physics — never from what the controller claims happened.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750000"/>
            <a:ext cx="11091672" cy="6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68666B"/>
                </a:solidFill>
                <a:latin typeface="Arial"/>
              </a:rPr>
              <a:t>Every result is checked against the world model — the checkpointed record of what should be true for each object. A mismatch is logged as expected vs. observed and written to disk immediately.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280000"/>
            <a:ext cx="11091672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68666B"/>
                </a:solidFill>
                <a:latin typeface="Arial"/>
              </a:rPr>
              <a:t>The seeded failure closes the gripper on empty air — caught from geometry alone.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8666B"/>
                </a:solidFill>
                <a:latin typeface="Arial"/>
              </a:rPr>
              <a:t>FAILURE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8666B"/>
                </a:solidFill>
                <a:latin typeface="Arial"/>
              </a:rPr>
              <a:t>06 /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77240"/>
            <a:ext cx="11091672" cy="12700"/>
          </a:xfrm>
          <a:prstGeom prst="rect">
            <a:avLst/>
          </a:prstGeom>
          <a:solidFill>
            <a:srgbClr val="E8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1091672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1A1A1A"/>
                </a:solidFill>
                <a:latin typeface="Arial"/>
              </a:rPr>
              <a:t>How does it recover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5840"/>
            <a:ext cx="560000" cy="38000"/>
          </a:xfrm>
          <a:prstGeom prst="roundRect">
            <a:avLst/>
          </a:prstGeom>
          <a:solidFill>
            <a:srgbClr val="FF00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600000"/>
            <a:ext cx="2577918" cy="700000"/>
          </a:xfrm>
          <a:prstGeom prst="roundRect">
            <a:avLst/>
          </a:prstGeom>
          <a:noFill/>
          <a:ln w="19050">
            <a:solidFill>
              <a:srgbClr val="FF00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1A1A"/>
                </a:solidFill>
                <a:latin typeface="Arial"/>
              </a:rPr>
              <a:t>DIAGNOSE DRIFT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26558" y="2600000"/>
            <a:ext cx="260000" cy="7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00BF"/>
                </a:solidFill>
                <a:latin typeface="Arial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6558" y="2600000"/>
            <a:ext cx="2577918" cy="700000"/>
          </a:xfrm>
          <a:prstGeom prst="roundRect">
            <a:avLst/>
          </a:prstGeom>
          <a:noFill/>
          <a:ln w="19050">
            <a:solidFill>
              <a:srgbClr val="FF00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1A1A"/>
                </a:solidFill>
                <a:latin typeface="Arial"/>
              </a:rPr>
              <a:t>PICK NEW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64476" y="2600000"/>
            <a:ext cx="260000" cy="7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00BF"/>
                </a:solidFill>
                <a:latin typeface="Arial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4476" y="2600000"/>
            <a:ext cx="2577918" cy="700000"/>
          </a:xfrm>
          <a:prstGeom prst="roundRect">
            <a:avLst/>
          </a:prstGeom>
          <a:noFill/>
          <a:ln w="19050">
            <a:solidFill>
              <a:srgbClr val="FF00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1A1A"/>
                </a:solidFill>
                <a:latin typeface="Arial"/>
              </a:rPr>
              <a:t>REPLAN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02394" y="2600000"/>
            <a:ext cx="260000" cy="7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00BF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62394" y="2600000"/>
            <a:ext cx="2577918" cy="700000"/>
          </a:xfrm>
          <a:prstGeom prst="roundRect">
            <a:avLst/>
          </a:prstGeom>
          <a:noFill/>
          <a:ln w="19050">
            <a:solidFill>
              <a:srgbClr val="FF00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1A1A"/>
                </a:solidFill>
                <a:latin typeface="Arial"/>
              </a:rPr>
              <a:t>ACT AGAIN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600000"/>
            <a:ext cx="11091672" cy="1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68666B"/>
                </a:solidFill>
                <a:latin typeface="Arial"/>
              </a:rPr>
              <a:t>Example: a missed grasp on basil is classified as behavioral drift — right object, right timing, wrong execution. The planner swaps in a genuinely different strategy — a lower, rotated side-grasp — not a blind retry of the same motion.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280000"/>
            <a:ext cx="11091672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68666B"/>
                </a:solidFill>
                <a:latin typeface="Arial"/>
              </a:rPr>
              <a:t>Recovery is a different strategy, not the same action repeated.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8666B"/>
                </a:solidFill>
                <a:latin typeface="Arial"/>
              </a:rPr>
              <a:t>DEMO — CLEAN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8666B"/>
                </a:solidFill>
                <a:latin typeface="Arial"/>
              </a:rPr>
              <a:t>07 /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77240"/>
            <a:ext cx="11091672" cy="12700"/>
          </a:xfrm>
          <a:prstGeom prst="rect">
            <a:avLst/>
          </a:prstGeom>
          <a:solidFill>
            <a:srgbClr val="E8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1091672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1A1A1A"/>
                </a:solidFill>
                <a:latin typeface="Arial"/>
              </a:rPr>
              <a:t>Clean run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5840"/>
            <a:ext cx="560000" cy="38000"/>
          </a:xfrm>
          <a:prstGeom prst="roundRect">
            <a:avLst/>
          </a:prstGeom>
          <a:solidFill>
            <a:srgbClr val="FF00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00000"/>
            <a:ext cx="11091672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E874B"/>
                </a:solidFill>
                <a:latin typeface="Arial"/>
              </a:rPr>
              <a:t>5 of 5 ingredients kitted. Zero failures.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524607" y="1915160"/>
            <a:ext cx="7142480" cy="4810760"/>
          </a:xfrm>
          <a:prstGeom prst="rect">
            <a:avLst/>
          </a:prstGeom>
          <a:noFill/>
          <a:ln w="19050">
            <a:solidFill>
              <a:srgbClr val="FF00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mise_demo_clean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550007" y="1940560"/>
            <a:ext cx="7091680" cy="47599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8666B"/>
                </a:solidFill>
                <a:latin typeface="Arial"/>
              </a:rPr>
              <a:t>DEMO — STRESS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8666B"/>
                </a:solidFill>
                <a:latin typeface="Arial"/>
              </a:rPr>
              <a:t>08 /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77240"/>
            <a:ext cx="11091672" cy="12700"/>
          </a:xfrm>
          <a:prstGeom prst="rect">
            <a:avLst/>
          </a:prstGeom>
          <a:solidFill>
            <a:srgbClr val="E8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1091672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1A1A1A"/>
                </a:solidFill>
                <a:latin typeface="Arial"/>
              </a:rPr>
              <a:t>Stress test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5840"/>
            <a:ext cx="560000" cy="38000"/>
          </a:xfrm>
          <a:prstGeom prst="roundRect">
            <a:avLst/>
          </a:prstGeom>
          <a:solidFill>
            <a:srgbClr val="FF00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00000"/>
            <a:ext cx="11091672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F00BF"/>
                </a:solidFill>
                <a:latin typeface="Arial"/>
              </a:rPr>
              <a:t>5 injected failures. 5 of 5 still kitted.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2524607" y="1915160"/>
            <a:ext cx="7142480" cy="4810760"/>
          </a:xfrm>
          <a:prstGeom prst="rect">
            <a:avLst/>
          </a:prstGeom>
          <a:noFill/>
          <a:ln w="19050">
            <a:solidFill>
              <a:srgbClr val="FF00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mise_demo_failures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550007" y="1940560"/>
            <a:ext cx="7091680" cy="47599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8666B"/>
                </a:solidFill>
                <a:latin typeface="Arial"/>
              </a:rPr>
              <a:t>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8666B"/>
                </a:solidFill>
                <a:latin typeface="Arial"/>
              </a:rPr>
              <a:t>09 /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77240"/>
            <a:ext cx="11091672" cy="12700"/>
          </a:xfrm>
          <a:prstGeom prst="rect">
            <a:avLst/>
          </a:prstGeom>
          <a:solidFill>
            <a:srgbClr val="E8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1091672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1A1A1A"/>
                </a:solidFill>
                <a:latin typeface="Arial"/>
              </a:rPr>
              <a:t>Failure count doesn't matter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5840"/>
            <a:ext cx="560000" cy="38000"/>
          </a:xfrm>
          <a:prstGeom prst="roundRect">
            <a:avLst/>
          </a:prstGeom>
          <a:solidFill>
            <a:srgbClr val="FF00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3200000"/>
            <a:ext cx="3497224" cy="1700000"/>
          </a:xfrm>
          <a:prstGeom prst="roundRect">
            <a:avLst/>
          </a:prstGeom>
          <a:noFill/>
          <a:ln w="12700">
            <a:solidFill>
              <a:srgbClr val="E8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450000"/>
            <a:ext cx="3497224" cy="7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1A1A1A"/>
                </a:solidFill>
                <a:latin typeface="Arial"/>
              </a:rPr>
              <a:t>5/5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00000"/>
            <a:ext cx="3497224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68666B"/>
                </a:solidFill>
                <a:latin typeface="Arial"/>
              </a:rPr>
              <a:t>0 FAILURES · HAZARD 0.0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5864" y="3200000"/>
            <a:ext cx="3497224" cy="1700000"/>
          </a:xfrm>
          <a:prstGeom prst="roundRect">
            <a:avLst/>
          </a:prstGeom>
          <a:noFill/>
          <a:ln w="12700">
            <a:solidFill>
              <a:srgbClr val="E8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5864" y="3450000"/>
            <a:ext cx="3497224" cy="7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1A1A1A"/>
                </a:solidFill>
                <a:latin typeface="Arial"/>
              </a:rPr>
              <a:t>5/5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5864" y="4400000"/>
            <a:ext cx="3497224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68666B"/>
                </a:solidFill>
                <a:latin typeface="Arial"/>
              </a:rPr>
              <a:t>1 FAILURE · HAZARD 0.09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43088" y="3200000"/>
            <a:ext cx="3497224" cy="1700000"/>
          </a:xfrm>
          <a:prstGeom prst="roundRect">
            <a:avLst/>
          </a:prstGeom>
          <a:noFill/>
          <a:ln w="12700">
            <a:solidFill>
              <a:srgbClr val="E8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43088" y="3450000"/>
            <a:ext cx="3497224" cy="7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1A1A1A"/>
                </a:solidFill>
                <a:latin typeface="Arial"/>
              </a:rPr>
              <a:t>5/5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43088" y="4400000"/>
            <a:ext cx="3497224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68666B"/>
                </a:solidFill>
                <a:latin typeface="Arial"/>
              </a:rPr>
              <a:t>5 FAILURES · HAZARD 0.33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280000"/>
            <a:ext cx="11091672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68666B"/>
                </a:solidFill>
                <a:latin typeface="Arial"/>
              </a:rPr>
              <a:t>Every seeded failure is diagnosed, replanned, and recovered — before the mission derails.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8666B"/>
                </a:solidFill>
                <a:latin typeface="Arial"/>
              </a:rPr>
              <a:t>RELIABILITY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8666B"/>
                </a:solidFill>
                <a:latin typeface="Arial"/>
              </a:rPr>
              <a:t>10 /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77240"/>
            <a:ext cx="11091672" cy="12700"/>
          </a:xfrm>
          <a:prstGeom prst="rect">
            <a:avLst/>
          </a:prstGeom>
          <a:solidFill>
            <a:srgbClr val="E8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1091672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1A1A1A"/>
                </a:solidFill>
                <a:latin typeface="Arial"/>
              </a:rPr>
              <a:t>Built on real bugs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5840"/>
            <a:ext cx="560000" cy="38000"/>
          </a:xfrm>
          <a:prstGeom prst="roundRect">
            <a:avLst/>
          </a:prstGeom>
          <a:solidFill>
            <a:srgbClr val="FF00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900000"/>
            <a:ext cx="11091672" cy="620000"/>
          </a:xfrm>
          <a:prstGeom prst="roundRect">
            <a:avLst/>
          </a:prstGeom>
          <a:solidFill>
            <a:srgbClr val="FAFAFB"/>
          </a:solidFill>
          <a:ln w="12700">
            <a:solidFill>
              <a:srgbClr val="E8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8640" y="2900000"/>
            <a:ext cx="4400000" cy="6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rial"/>
              </a:rPr>
              <a:t>Base collided with 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98640" y="2900000"/>
            <a:ext cx="260000" cy="6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00BF"/>
                </a:solidFill>
                <a:latin typeface="Arial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98640" y="2900000"/>
            <a:ext cx="5681672" cy="6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8666B"/>
                </a:solidFill>
                <a:latin typeface="Arial"/>
              </a:rPr>
              <a:t>repositioned + safe start pose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630000"/>
            <a:ext cx="11091672" cy="620000"/>
          </a:xfrm>
          <a:prstGeom prst="roundRect">
            <a:avLst/>
          </a:prstGeom>
          <a:solidFill>
            <a:srgbClr val="FAFAFB"/>
          </a:solidFill>
          <a:ln w="12700">
            <a:solidFill>
              <a:srgbClr val="E8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8640" y="3630000"/>
            <a:ext cx="4400000" cy="6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rial"/>
              </a:rPr>
              <a:t>IK never reached 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98640" y="3630000"/>
            <a:ext cx="260000" cy="6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00BF"/>
                </a:solidFill>
                <a:latin typeface="Arial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98640" y="3630000"/>
            <a:ext cx="5681672" cy="6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8666B"/>
                </a:solidFill>
                <a:latin typeface="Arial"/>
              </a:rPr>
              <a:t>stronger gains + held waypoints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60000"/>
            <a:ext cx="11091672" cy="620000"/>
          </a:xfrm>
          <a:prstGeom prst="roundRect">
            <a:avLst/>
          </a:prstGeom>
          <a:solidFill>
            <a:srgbClr val="FAFAFB"/>
          </a:solidFill>
          <a:ln w="12700">
            <a:solidFill>
              <a:srgbClr val="E8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8640" y="4360000"/>
            <a:ext cx="4400000" cy="6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rial"/>
              </a:rPr>
              <a:t>“Success” still dragged objects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98640" y="4360000"/>
            <a:ext cx="260000" cy="6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00BF"/>
                </a:solidFill>
                <a:latin typeface="Arial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98640" y="4360000"/>
            <a:ext cx="5681672" cy="6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8666B"/>
                </a:solidFill>
                <a:latin typeface="Arial"/>
              </a:rPr>
              <a:t>fixed true gripper opening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280000"/>
            <a:ext cx="11091672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68666B"/>
                </a:solidFill>
                <a:latin typeface="Arial"/>
              </a:rPr>
              <a:t>Every fix was diagnosed from contact-force and joint-state telemetry — not guessed.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8666B"/>
                </a:solidFill>
                <a:latin typeface="Arial"/>
              </a:rPr>
              <a:t>JUDGING CRITERIA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8666B"/>
                </a:solidFill>
                <a:latin typeface="Arial"/>
              </a:rPr>
              <a:t>11 /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77240"/>
            <a:ext cx="11091672" cy="12700"/>
          </a:xfrm>
          <a:prstGeom prst="rect">
            <a:avLst/>
          </a:prstGeom>
          <a:solidFill>
            <a:srgbClr val="E8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1091672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1A1A1A"/>
                </a:solidFill>
                <a:latin typeface="Arial"/>
              </a:rPr>
              <a:t>Every criterion, demonstrated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5840"/>
            <a:ext cx="560000" cy="38000"/>
          </a:xfrm>
          <a:prstGeom prst="roundRect">
            <a:avLst/>
          </a:prstGeom>
          <a:solidFill>
            <a:srgbClr val="FF00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650000"/>
            <a:ext cx="260000" cy="49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00BF"/>
                </a:solidFill>
                <a:latin typeface="Arial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40" y="2650000"/>
            <a:ext cx="10771672" cy="49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Arial"/>
              </a:rPr>
              <a:t>Mid-run verification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40000"/>
            <a:ext cx="260000" cy="49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00BF"/>
                </a:solidFill>
                <a:latin typeface="Arial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40" y="3140000"/>
            <a:ext cx="10771672" cy="49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Arial"/>
              </a:rPr>
              <a:t>Drift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30000"/>
            <a:ext cx="260000" cy="49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00B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40" y="3630000"/>
            <a:ext cx="10771672" cy="49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Arial"/>
              </a:rPr>
              <a:t>Hazard rate tracking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20000"/>
            <a:ext cx="260000" cy="49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00B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40" y="4120000"/>
            <a:ext cx="10771672" cy="49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Arial"/>
              </a:rPr>
              <a:t>Checkpointed world 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610000"/>
            <a:ext cx="260000" cy="49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00B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40" y="4610000"/>
            <a:ext cx="10771672" cy="49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Arial"/>
              </a:rPr>
              <a:t>Three-level 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100000"/>
            <a:ext cx="260000" cy="49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00BF"/>
                </a:solidFill>
                <a:latin typeface="Arial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40" y="5100000"/>
            <a:ext cx="10771672" cy="49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Arial"/>
              </a:rPr>
              <a:t>Reliability over horizon length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280000"/>
            <a:ext cx="11091672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68666B"/>
                </a:solidFill>
                <a:latin typeface="Arial"/>
              </a:rPr>
              <a:t>Not bolted on for the demo — built into the architecture.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